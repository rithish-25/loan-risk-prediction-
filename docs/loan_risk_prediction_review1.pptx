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3" r:id="rId4"/>
    <p:sldId id="258" r:id="rId5"/>
    <p:sldId id="271" r:id="rId6"/>
    <p:sldId id="262" r:id="rId7"/>
    <p:sldId id="264" r:id="rId8"/>
    <p:sldId id="272" r:id="rId9"/>
    <p:sldId id="273" r:id="rId10"/>
    <p:sldId id="274" r:id="rId11"/>
    <p:sldId id="259" r:id="rId12"/>
    <p:sldId id="260" r:id="rId13"/>
    <p:sldId id="269" r:id="rId14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jmihMLrrBZE8aYcezI03h6WiDJ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1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47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20884616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00933E87-5C11-3150-3F05-8896B8934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>
            <a:extLst>
              <a:ext uri="{FF2B5EF4-FFF2-40B4-BE49-F238E27FC236}">
                <a16:creationId xmlns:a16="http://schemas.microsoft.com/office/drawing/2014/main" id="{60E1B26B-17EA-AD8E-7121-C44CBAE90A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9BA26095-9FCE-F6DB-A302-A38E89D9CA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9126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body" idx="1"/>
          </p:nvPr>
        </p:nvSpPr>
        <p:spPr>
          <a:xfrm>
            <a:off x="4186809" y="3302679"/>
            <a:ext cx="3864609" cy="250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9144000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9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body" idx="1"/>
          </p:nvPr>
        </p:nvSpPr>
        <p:spPr>
          <a:xfrm>
            <a:off x="4186809" y="3302679"/>
            <a:ext cx="3864609" cy="250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1"/>
          <p:cNvGrpSpPr/>
          <p:nvPr/>
        </p:nvGrpSpPr>
        <p:grpSpPr>
          <a:xfrm>
            <a:off x="0" y="0"/>
            <a:ext cx="3067050" cy="6857998"/>
            <a:chOff x="0" y="0"/>
            <a:chExt cx="3067050" cy="6857998"/>
          </a:xfrm>
        </p:grpSpPr>
        <p:pic>
          <p:nvPicPr>
            <p:cNvPr id="49" name="Google Shape;49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3067050" cy="68579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24000" y="1338452"/>
              <a:ext cx="1479041" cy="1389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81000" y="4495812"/>
              <a:ext cx="1479041" cy="18413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" name="Google Shape;52;p1"/>
          <p:cNvSpPr txBox="1">
            <a:spLocks noGrp="1"/>
          </p:cNvSpPr>
          <p:nvPr>
            <p:ph type="title"/>
          </p:nvPr>
        </p:nvSpPr>
        <p:spPr>
          <a:xfrm>
            <a:off x="2811411" y="1249992"/>
            <a:ext cx="6312310" cy="112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algn="ctr"/>
            <a:r>
              <a:rPr lang="en-GB" sz="2400" dirty="0"/>
              <a:t>Machine Learning-Based Credit Risk Prediction with Safe Loan Amount and EMI Recommendation</a:t>
            </a:r>
          </a:p>
        </p:txBody>
      </p:sp>
      <p:sp>
        <p:nvSpPr>
          <p:cNvPr id="53" name="Google Shape;53;p1"/>
          <p:cNvSpPr txBox="1">
            <a:spLocks noGrp="1"/>
          </p:cNvSpPr>
          <p:nvPr>
            <p:ph type="body" idx="1"/>
          </p:nvPr>
        </p:nvSpPr>
        <p:spPr>
          <a:xfrm>
            <a:off x="4856589" y="3733074"/>
            <a:ext cx="5257801" cy="1763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688975" marR="618490" lvl="0" indent="-654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 dirty="0"/>
          </a:p>
          <a:p>
            <a:pPr marL="688975" marR="618490" lvl="0" indent="-654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/>
              <a:t>RITHISH R </a:t>
            </a:r>
            <a:r>
              <a:rPr lang="en-US" sz="1800" b="0" dirty="0">
                <a:latin typeface="Times New Roman"/>
                <a:ea typeface="Times New Roman"/>
                <a:cs typeface="Times New Roman"/>
                <a:sym typeface="Times New Roman"/>
              </a:rPr>
              <a:t>(23CSR178)</a:t>
            </a:r>
            <a:endParaRPr sz="18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8975" marR="618490" lvl="0" indent="-654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/>
              <a:t>NAVEEN SRINIVAS </a:t>
            </a:r>
            <a:r>
              <a:rPr lang="en-US" sz="1800" b="0" dirty="0">
                <a:latin typeface="Times New Roman"/>
                <a:ea typeface="Times New Roman"/>
                <a:cs typeface="Times New Roman"/>
                <a:sym typeface="Times New Roman"/>
              </a:rPr>
              <a:t> V(23CSR145) </a:t>
            </a:r>
          </a:p>
          <a:p>
            <a:pPr marL="688975" marR="618490" lvl="0" indent="-654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/>
              <a:t>MENAHA R(23CSR130)</a:t>
            </a:r>
            <a:endParaRPr sz="1800" b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3148713" y="5708177"/>
            <a:ext cx="5236209" cy="629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/>
            <a:br>
              <a:rPr lang="en-IN" sz="2000" b="1" spc="-10" dirty="0">
                <a:latin typeface="Times New Roman"/>
                <a:cs typeface="Times New Roman"/>
              </a:rPr>
            </a:br>
            <a:r>
              <a:rPr lang="en-US" sz="2000" b="1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Date:20.07.2026</a:t>
            </a:r>
            <a:endParaRPr sz="2000" b="0" i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031464" y="294175"/>
            <a:ext cx="4672602" cy="132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FF0000"/>
                </a:solidFill>
              </a:rPr>
              <a:t>Problem Statement</a:t>
            </a:r>
            <a:br>
              <a:rPr lang="en-US" sz="3600" dirty="0">
                <a:solidFill>
                  <a:srgbClr val="FF0000"/>
                </a:solidFill>
              </a:rPr>
            </a:b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970855" y="1621189"/>
            <a:ext cx="7715945" cy="337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dirty="0"/>
              <a:t>Existing Problem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/>
              <a:t>Banks use manual checking or simple rules to evaluate loan applications.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/>
              <a:t>This process takes more time and can lead to incorrect decisions.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/>
              <a:t> Risky customers may be approved, while eligible customers may be rejected.</a:t>
            </a:r>
          </a:p>
          <a:p>
            <a:pPr marL="228600" indent="0">
              <a:lnSpc>
                <a:spcPct val="150000"/>
              </a:lnSpc>
            </a:pPr>
            <a:r>
              <a:rPr lang="en-GB" sz="1800" dirty="0"/>
              <a:t>Proposed Solution: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/>
              <a:t>Use Machine Learning to classify customers as Safe or Risky.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/>
              <a:t>Generate a Risk Score and recommend a suitable Loan Amount and EMI.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/>
              <a:t>Provide clear reasons for the prediction to support accurate loan decisions.</a:t>
            </a:r>
            <a:endParaRPr lang="en-GB" sz="1800" b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566102" y="480063"/>
            <a:ext cx="3098259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O</a:t>
            </a:r>
            <a:r>
              <a:rPr lang="en-IN" sz="3600" dirty="0" err="1">
                <a:solidFill>
                  <a:srgbClr val="FF0000"/>
                </a:solidFill>
              </a:rPr>
              <a:t>bjectives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1517710" y="1203609"/>
            <a:ext cx="8563183" cy="978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endParaRPr lang="en-IN" b="0" dirty="0"/>
          </a:p>
          <a:p>
            <a:pPr marL="228600" indent="0"/>
            <a:endParaRPr lang="en-IN" b="0" dirty="0"/>
          </a:p>
          <a:p>
            <a:pPr marL="228600" indent="0"/>
            <a:endParaRPr lang="en-IN" b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036DB2-984A-52B7-B53C-55768F1C7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2774" y="1852699"/>
            <a:ext cx="7851058" cy="253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Machine Learning model to predict customer loan default risk.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loan and customer data.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Random Forest model and XG Boost model.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model performance using evaluation metrics.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predictions using SHAP.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user-friendly interface for loan risk prediction.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557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006641" y="137160"/>
            <a:ext cx="4180797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L</a:t>
            </a:r>
            <a:r>
              <a:rPr lang="en-IN" sz="3600" dirty="0" err="1">
                <a:solidFill>
                  <a:srgbClr val="FF0000"/>
                </a:solidFill>
              </a:rPr>
              <a:t>iterature</a:t>
            </a:r>
            <a:r>
              <a:rPr lang="en-IN" sz="3600" dirty="0">
                <a:solidFill>
                  <a:srgbClr val="FF0000"/>
                </a:solidFill>
              </a:rPr>
              <a:t> Survey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EB99CE-EE9A-923E-F5AF-C7003C914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10019"/>
              </p:ext>
            </p:extLst>
          </p:nvPr>
        </p:nvGraphicFramePr>
        <p:xfrm>
          <a:off x="853588" y="1236674"/>
          <a:ext cx="8010940" cy="5312716"/>
        </p:xfrm>
        <a:graphic>
          <a:graphicData uri="http://schemas.openxmlformats.org/drawingml/2006/table">
            <a:tbl>
              <a:tblPr/>
              <a:tblGrid>
                <a:gridCol w="2002735">
                  <a:extLst>
                    <a:ext uri="{9D8B030D-6E8A-4147-A177-3AD203B41FA5}">
                      <a16:colId xmlns:a16="http://schemas.microsoft.com/office/drawing/2014/main" val="403370833"/>
                    </a:ext>
                  </a:extLst>
                </a:gridCol>
                <a:gridCol w="2002735">
                  <a:extLst>
                    <a:ext uri="{9D8B030D-6E8A-4147-A177-3AD203B41FA5}">
                      <a16:colId xmlns:a16="http://schemas.microsoft.com/office/drawing/2014/main" val="2857893920"/>
                    </a:ext>
                  </a:extLst>
                </a:gridCol>
                <a:gridCol w="2002735">
                  <a:extLst>
                    <a:ext uri="{9D8B030D-6E8A-4147-A177-3AD203B41FA5}">
                      <a16:colId xmlns:a16="http://schemas.microsoft.com/office/drawing/2014/main" val="4228705305"/>
                    </a:ext>
                  </a:extLst>
                </a:gridCol>
                <a:gridCol w="2002735">
                  <a:extLst>
                    <a:ext uri="{9D8B030D-6E8A-4147-A177-3AD203B41FA5}">
                      <a16:colId xmlns:a16="http://schemas.microsoft.com/office/drawing/2014/main" val="1109122155"/>
                    </a:ext>
                  </a:extLst>
                </a:gridCol>
              </a:tblGrid>
              <a:tr h="335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Author &amp; Year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Methodology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Performance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Limitation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79279"/>
                  </a:ext>
                </a:extLst>
              </a:tr>
              <a:tr h="335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ML-Based Credit Scoring Models (2024)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Logistic Regression, Random Forest, </a:t>
                      </a:r>
                      <a:r>
                        <a:rPr lang="en-IN" dirty="0" err="1"/>
                        <a:t>XGBoost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85–92%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 explainability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395469"/>
                  </a:ext>
                </a:extLst>
              </a:tr>
              <a:tr h="1165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Credit Risk Prediction Using ML (2024)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Support Vector Machine, 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AUC 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loan recommendation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015552"/>
                  </a:ext>
                </a:extLst>
              </a:tr>
              <a:tr h="1165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Explainable AI for Loan Approval (2025)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XGBoost, SHAP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90%+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real-time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76091"/>
                  </a:ext>
                </a:extLst>
              </a:tr>
              <a:tr h="102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Banking Risk Analysis Using ML (2024)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Logistic Regression, Neural 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87–91%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EMI recommendation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730787"/>
                  </a:ext>
                </a:extLst>
              </a:tr>
              <a:tr h="888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Hybrid Loan Default Prediction (2025)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XGBoost</a:t>
                      </a:r>
                      <a:r>
                        <a:rPr lang="en-IN" dirty="0"/>
                        <a:t>, SHAP, Topological Data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ROC-AUC 0.973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Limited to maritime finance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118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547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6232D14E-EE81-BEA8-21C1-542F5DEC2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>
            <a:extLst>
              <a:ext uri="{FF2B5EF4-FFF2-40B4-BE49-F238E27FC236}">
                <a16:creationId xmlns:a16="http://schemas.microsoft.com/office/drawing/2014/main" id="{CF82B9DD-BD01-BE97-517F-749705D975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35442" y="184527"/>
            <a:ext cx="4187162" cy="71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dirty="0">
                <a:solidFill>
                  <a:srgbClr val="FF0000"/>
                </a:solidFill>
              </a:rPr>
              <a:t>Base Paper Selection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64" name="Google Shape;64;p2">
            <a:extLst>
              <a:ext uri="{FF2B5EF4-FFF2-40B4-BE49-F238E27FC236}">
                <a16:creationId xmlns:a16="http://schemas.microsoft.com/office/drawing/2014/main" id="{741D38C7-9908-094D-C848-9BA085FD17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5861B0-D818-95CF-EE90-A6590BB61962}"/>
              </a:ext>
            </a:extLst>
          </p:cNvPr>
          <p:cNvSpPr txBox="1"/>
          <p:nvPr/>
        </p:nvSpPr>
        <p:spPr>
          <a:xfrm>
            <a:off x="692951" y="1113294"/>
            <a:ext cx="8272144" cy="5264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Novel Hybrid Model for Loan Default Prediction in Maritime Finance Based on Topological Data Analysis and Machine Learning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Details: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Access 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 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SHAP + TDA (Topological Data Analysis) 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ROC-AUC = 0.973 (very high performance) 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IEEE publication (2025).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advanced Machine Learning with TDA features.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SHAP for explainable predictions.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high prediction accuracy.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ideas for improving credit risk prediction systems.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485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286093" y="590799"/>
            <a:ext cx="4961783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Research Gap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FE50B3E-8164-E04E-8E32-3BC41866D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503" y="1363815"/>
            <a:ext cx="8401377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studies only predict whether a customer will repay the loan or not.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do not recommend a suitable loan amount or EMI based on the customer's financial condition.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Many models focus only on improving accuracy and provide limited explanation for their predictions.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user-friendly system that combines risk prediction, risk score, loan recommendation, and explainable results in one platform.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364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997070" y="446213"/>
            <a:ext cx="1779124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N</a:t>
            </a:r>
            <a:r>
              <a:rPr lang="en-IN" sz="3600" dirty="0" err="1">
                <a:solidFill>
                  <a:srgbClr val="FF0000"/>
                </a:solidFill>
              </a:rPr>
              <a:t>ovelty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359565-91CB-3A74-9047-C337B83FED6A}"/>
              </a:ext>
            </a:extLst>
          </p:cNvPr>
          <p:cNvSpPr txBox="1"/>
          <p:nvPr/>
        </p:nvSpPr>
        <p:spPr>
          <a:xfrm>
            <a:off x="1510728" y="1573190"/>
            <a:ext cx="7176072" cy="295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Novel Contributions: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SHAP-based Explainability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Risk Prediction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Score Generation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Amount Recommendation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 Recommendation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3460137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6C1CC8-AFDC-0649-6EA4-8BA5A7D5B3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59E12A-55F9-F69A-CF92-6CF8A642BB2F}"/>
              </a:ext>
            </a:extLst>
          </p:cNvPr>
          <p:cNvSpPr txBox="1"/>
          <p:nvPr/>
        </p:nvSpPr>
        <p:spPr>
          <a:xfrm>
            <a:off x="2851354" y="372149"/>
            <a:ext cx="4945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A48B70-D868-66F7-CE27-4158C36F02B1}"/>
              </a:ext>
            </a:extLst>
          </p:cNvPr>
          <p:cNvSpPr txBox="1"/>
          <p:nvPr/>
        </p:nvSpPr>
        <p:spPr>
          <a:xfrm>
            <a:off x="845575" y="1297858"/>
            <a:ext cx="796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         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Credit Risk Prediction System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9278CAE-8866-9133-A9E0-CEEC20D7F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61" y="2036691"/>
            <a:ext cx="8150943" cy="400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809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27EE3C-CB3B-647E-8AFD-E8580E9761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BC06E-B8F5-40D8-A196-220C9DE03069}"/>
              </a:ext>
            </a:extLst>
          </p:cNvPr>
          <p:cNvSpPr txBox="1"/>
          <p:nvPr/>
        </p:nvSpPr>
        <p:spPr>
          <a:xfrm>
            <a:off x="1877960" y="612830"/>
            <a:ext cx="10078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roposed</a:t>
            </a: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 with Planned Innovation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A569BF-740B-53A3-5577-923D98A2B35F}"/>
              </a:ext>
            </a:extLst>
          </p:cNvPr>
          <p:cNvSpPr txBox="1"/>
          <p:nvPr/>
        </p:nvSpPr>
        <p:spPr>
          <a:xfrm>
            <a:off x="1297858" y="1524000"/>
            <a:ext cx="6764594" cy="460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Planned Innovation</a:t>
            </a:r>
          </a:p>
          <a:p>
            <a:endParaRPr lang="en-I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using SHAP for transparent loan decisions.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Risk Score prediction using Machine Learning.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Loan Amount recommendation based on customer profile.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EMI recommendation based on affordability.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Loan Prediction through a web application.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Multi-criteria Decision Support considering risk, eligibility, and affordability.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ML Models to select the best-performing model.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 for improved prediction accuracy.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5810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EC35DE-C97A-898F-F072-CD519FC8A0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3320C3-F531-BBAB-7C8C-3287CDF759DB}"/>
              </a:ext>
            </a:extLst>
          </p:cNvPr>
          <p:cNvSpPr txBox="1"/>
          <p:nvPr/>
        </p:nvSpPr>
        <p:spPr>
          <a:xfrm>
            <a:off x="2713703" y="563416"/>
            <a:ext cx="5338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of the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15D1-0275-1AAD-757B-DD1FFA12AE48}"/>
              </a:ext>
            </a:extLst>
          </p:cNvPr>
          <p:cNvSpPr txBox="1"/>
          <p:nvPr/>
        </p:nvSpPr>
        <p:spPr>
          <a:xfrm>
            <a:off x="1307690" y="1484671"/>
            <a:ext cx="6322142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Dataset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Data Preprocessing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Feature Engineering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Machine Learning Model Training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 – Credit Risk Prediction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6 – SHAP Explainability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7 – Loan Amount &amp; EMI Recommendation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8 – Web Application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9 – Performance Evaluation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10 – Result Analysis</a:t>
            </a:r>
          </a:p>
        </p:txBody>
      </p:sp>
    </p:spTree>
    <p:extLst>
      <p:ext uri="{BB962C8B-B14F-4D97-AF65-F5344CB8AC3E}">
        <p14:creationId xmlns:p14="http://schemas.microsoft.com/office/powerpoint/2010/main" val="776722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368825" y="457009"/>
            <a:ext cx="2824323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M</a:t>
            </a:r>
            <a:r>
              <a:rPr lang="en-IN" sz="3600" dirty="0" err="1">
                <a:solidFill>
                  <a:srgbClr val="FF0000"/>
                </a:solidFill>
              </a:rPr>
              <a:t>ethodology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1848741" y="1505670"/>
            <a:ext cx="6375943" cy="4210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228600" indent="0"/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Dataset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Training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Prediction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Analysis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&amp; EMI Recommendation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</a:p>
        </p:txBody>
      </p:sp>
    </p:spTree>
    <p:extLst>
      <p:ext uri="{BB962C8B-B14F-4D97-AF65-F5344CB8AC3E}">
        <p14:creationId xmlns:p14="http://schemas.microsoft.com/office/powerpoint/2010/main" val="1678992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2810585" y="572709"/>
            <a:ext cx="4200295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E</a:t>
            </a:r>
            <a:r>
              <a:rPr lang="en-IN" sz="3600" dirty="0" err="1">
                <a:solidFill>
                  <a:srgbClr val="FF0000"/>
                </a:solidFill>
              </a:rPr>
              <a:t>xpected</a:t>
            </a:r>
            <a:r>
              <a:rPr lang="en-IN" sz="3600" dirty="0">
                <a:solidFill>
                  <a:srgbClr val="FF0000"/>
                </a:solidFill>
              </a:rPr>
              <a:t> Outcome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63EDBA-6E2C-89E2-F0F3-2AC9C65E9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5558" y="1850242"/>
            <a:ext cx="7070351" cy="3366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loan default risk prediction.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loan approval process.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loan eligibility decisions.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loan amount recommendations.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EMI recommendations.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financial risk for banks.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User-friendly web application.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and transparent decision-making.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355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426253" y="2579887"/>
            <a:ext cx="5158553" cy="71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IN" spc="-40" dirty="0"/>
              <a:t>THANK</a:t>
            </a:r>
            <a:r>
              <a:rPr lang="en-IN" spc="-190" dirty="0"/>
              <a:t> </a:t>
            </a:r>
            <a:r>
              <a:rPr lang="en-IN" spc="-20" dirty="0"/>
              <a:t>YOU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4909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711</Words>
  <Application>Microsoft Office PowerPoint</Application>
  <PresentationFormat>On-screen Show (4:3)</PresentationFormat>
  <Paragraphs>125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Machine Learning-Based Credit Risk Prediction with Safe Loan Amount and EMI Recommendation</vt:lpstr>
      <vt:lpstr>Problem Statement </vt:lpstr>
      <vt:lpstr>Objectives</vt:lpstr>
      <vt:lpstr>Literature Survey</vt:lpstr>
      <vt:lpstr>Base Paper Selection</vt:lpstr>
      <vt:lpstr>Research Gap</vt:lpstr>
      <vt:lpstr>Novelty</vt:lpstr>
      <vt:lpstr>PowerPoint Presentation</vt:lpstr>
      <vt:lpstr>PowerPoint Presentation</vt:lpstr>
      <vt:lpstr>PowerPoint Presentation</vt:lpstr>
      <vt:lpstr>Methodology</vt:lpstr>
      <vt:lpstr>Expected Outcome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Deployment of E-Commerce Web Application using Jenkins and Kubernetes</dc:title>
  <dc:creator>Bhobesh adhithiyan</dc:creator>
  <cp:lastModifiedBy>DIVYA PRASANTH</cp:lastModifiedBy>
  <cp:revision>41</cp:revision>
  <dcterms:created xsi:type="dcterms:W3CDTF">2025-02-28T03:17:42Z</dcterms:created>
  <dcterms:modified xsi:type="dcterms:W3CDTF">2026-07-19T17:37:53Z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2025-02-28T00:00:00Z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2025-02-28T00:00:00Z</vt:filetime>
  </property>
  <property fmtid="{D5CDD505-2E9C-101B-9397-08002B2CF9AE}" pid="5" name="Producer">
    <vt:lpwstr>Microsoft® PowerPoint® 2021</vt:lpwstr>
  </property>
</Properties>
</file>